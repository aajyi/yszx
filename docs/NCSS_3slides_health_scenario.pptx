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NCSS 算法流程（健康场景）— 相似网络与共同邻居</a:t>
            </a:r>
          </a:p>
          <a:p>
            <a:pPr>
              <a:spcBef>
                <a:spcPts val="800"/>
              </a:spcBef>
              <a:defRPr sz="1200"/>
            </a:pPr>
            <a:r>
              <a:t>参考文献：韩忠明等. NCSS: 一种快速有效的复杂网络社团划分算法. 中国科学: 信息科学, 2016, 46(4): 431–444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/>
            </a:pPr>
            <a:r>
              <a:t>6.4.1 Step 1  构建相似网络</a:t>
            </a:r>
          </a:p>
          <a:p>
            <a:pPr>
              <a:spcAft>
                <a:spcPts val="500"/>
              </a:spcAft>
              <a:defRPr sz="1300" b="0"/>
            </a:pPr>
            <a:r>
              <a:t>输入：用户标签 / 画像特征；输出：无向图 G=(V,E) 的邻接表 adjacency。 工程复杂度约 O(n²·s)（s 为标签交并运算代价），可用倒排索引、MinHash 压缩候选对。</a:t>
            </a:r>
          </a:p>
          <a:p>
            <a:pPr>
              <a:spcAft>
                <a:spcPts val="500"/>
              </a:spcAft>
              <a:defRPr sz="1600" b="1"/>
            </a:pPr>
            <a:r>
              <a:t>6.4.2 Step 2  共同邻居（拓扑相似证据）</a:t>
            </a:r>
          </a:p>
          <a:p>
            <a:pPr>
              <a:spcAft>
                <a:spcPts val="500"/>
              </a:spcAft>
              <a:defRPr sz="1300" b="0"/>
            </a:pPr>
            <a:r>
              <a:t>compute_common_neighbors：为后续中心度与结构强度提供基础；工程上预计算 |C_{i,j}|。</a:t>
            </a:r>
          </a:p>
          <a:p>
            <a:pPr>
              <a:spcAft>
                <a:spcPts val="500"/>
              </a:spcAft>
              <a:defRPr sz="1400" b="1"/>
            </a:pPr>
            <a:r>
              <a:t>定义 1（论文式 (1)）  节点 i 与 j 的共同邻居集合</a:t>
            </a:r>
          </a:p>
          <a:p>
            <a:pPr>
              <a:spcAft>
                <a:spcPts val="500"/>
              </a:spcAft>
              <a:defRPr sz="1600" b="0"/>
            </a:pPr>
            <a:r>
              <a:t>C_{i,j} = Neighbor(i) ∩ Neighbor(j)</a:t>
            </a:r>
          </a:p>
          <a:p>
            <a:pPr>
              <a:spcAft>
                <a:spcPts val="500"/>
              </a:spcAft>
              <a:defRPr sz="1400" b="0"/>
            </a:pPr>
            <a:r>
              <a:t>常用计数：|C_{i,j}| = |Neighbor(i) ∩ Neighbor(j)|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类 PageRank 节点中心度与种子筛选</a:t>
            </a:r>
          </a:p>
          <a:p>
            <a:pPr>
              <a:spcBef>
                <a:spcPts val="800"/>
              </a:spcBef>
              <a:defRPr sz="1200"/>
            </a:pPr>
            <a:r>
              <a:t>Step 3–4：compute_node_centrality → select_seed_nodes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 b="1"/>
            </a:pPr>
            <a:r>
              <a:t>6.4.3 Step 3  节点中心度迭代</a:t>
            </a:r>
          </a:p>
          <a:p>
            <a:pPr>
              <a:spcAft>
                <a:spcPts val="500"/>
              </a:spcAft>
              <a:defRPr sz="1200" b="0"/>
            </a:pPr>
            <a:r>
              <a:t>类 PageRank：邻居贡献 × 共同邻居占比；阻尼系数 c∈(0,1)（常取 0.8），收敛阈值 ε 控制迭代。目标：识别潜在核心节点，避免随机种子。</a:t>
            </a:r>
          </a:p>
          <a:p>
            <a:pPr>
              <a:spcAft>
                <a:spcPts val="500"/>
              </a:spcAft>
              <a:defRPr sz="1400" b="1"/>
            </a:pPr>
            <a:r>
              <a:t>定义 2（论文式 (2)）  节点 i 的中心度 PRcen(i)</a:t>
            </a:r>
          </a:p>
          <a:p>
            <a:pPr>
              <a:spcAft>
                <a:spcPts val="500"/>
              </a:spcAft>
              <a:defRPr sz="1300" b="0"/>
            </a:pPr>
            <a:r>
              <a:t>PRcen(i) = c · Σ_{j∈Neighbor(i)} PRcen(j) · |C_{i,j}| / ( Σ_{k∈Neighbor(i)} |C_{i,k}| + 1 ) + (1−c)/|V|</a:t>
            </a:r>
          </a:p>
          <a:p>
            <a:pPr>
              <a:spcAft>
                <a:spcPts val="500"/>
              </a:spcAft>
              <a:defRPr sz="1100" b="0"/>
            </a:pPr>
            <a:r>
              <a:t>其中：c 为阻尼系数；|V| 为节点数；分母 “+1” 处理孤立点等退化情形。</a:t>
            </a:r>
          </a:p>
          <a:p>
            <a:pPr>
              <a:spcAft>
                <a:spcPts val="500"/>
              </a:spcAft>
              <a:defRPr sz="1600" b="1"/>
            </a:pPr>
            <a:r>
              <a:t>6.4.4 Step 4  种子筛选（工程三类约束）</a:t>
            </a:r>
          </a:p>
          <a:p>
            <a:pPr>
              <a:spcAft>
                <a:spcPts val="500"/>
              </a:spcAft>
              <a:defRPr sz="1300" b="0"/>
            </a:pPr>
            <a:r>
              <a:t>① PRcen ≥ 均值；② 度数 deg ≥ 平均度；③ 新种子与已选种子不相邻（尽量覆盖不同社团）。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社团扩张、迁移、小团过滤与工程优化</a:t>
            </a:r>
          </a:p>
          <a:p>
            <a:pPr>
              <a:spcBef>
                <a:spcPts val="800"/>
              </a:spcBef>
              <a:defRPr sz="1200"/>
            </a:pPr>
            <a:r>
              <a:t>Step 5–6：community_expansion → filter_small_communities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8229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 b="1"/>
            </a:pPr>
            <a:r>
              <a:t>6.4.5 Step 5  扩张与节点迁移</a:t>
            </a:r>
          </a:p>
          <a:p>
            <a:pPr>
              <a:spcAft>
                <a:spcPts val="500"/>
              </a:spcAft>
              <a:defRPr sz="1200" b="0"/>
            </a:pPr>
            <a:r>
              <a:t>定义 3（论文式 (3)）  依赖度  D_{a,C} = n_{a,C} / k_a  （n_{a,C}：a 在社团 C 内邻居数；k_a：a 的度）</a:t>
            </a:r>
          </a:p>
          <a:p>
            <a:pPr>
              <a:spcAft>
                <a:spcPts val="500"/>
              </a:spcAft>
              <a:defRPr sz="1100" b="0"/>
            </a:pPr>
            <a:r>
              <a:t>定义 4（论文式 (4)）  S_{i,C} = Σ_{j∈C} [ 2|C_{i,j}| − (k_{i,j}^{out}/m)·s_C^{in} − (k_{i,j}^{in}/m)·s_C^{out} ]</a:t>
            </a:r>
          </a:p>
          <a:p>
            <a:pPr>
              <a:spcAft>
                <a:spcPts val="500"/>
              </a:spcAft>
              <a:defRPr sz="1000" b="0"/>
            </a:pPr>
            <a:r>
              <a:t>m 为全图度之和；k^{in/out}、s^{in/out}_C 含义同原文。</a:t>
            </a:r>
          </a:p>
          <a:p>
            <a:pPr>
              <a:spcAft>
                <a:spcPts val="500"/>
              </a:spcAft>
              <a:defRPr sz="1100" b="0"/>
            </a:pPr>
            <a:r>
              <a:t>扩张：取 S_{i,C}&gt;0；已属他团时比较 D_{i,C_new} 与 D_{i,C_old}，若对新团依赖更大且 D_{i,C_new}&gt;0.5（论文算法 2）则迁移。</a:t>
            </a:r>
          </a:p>
          <a:p>
            <a:pPr>
              <a:spcAft>
                <a:spcPts val="500"/>
              </a:spcAft>
              <a:defRPr sz="1500" b="1"/>
            </a:pPr>
            <a:r>
              <a:t>6.4.6 Step 6  小社团过滤</a:t>
            </a:r>
          </a:p>
          <a:p>
            <a:pPr>
              <a:spcAft>
                <a:spcPts val="500"/>
              </a:spcAft>
              <a:defRPr sz="1200" b="0"/>
            </a:pPr>
            <a:r>
              <a:t>过小社团并入最大团或回收（如 |C| &lt; θ|V|，文中示例 θ=5%），提升业务可用性。</a:t>
            </a:r>
          </a:p>
          <a:p>
            <a:pPr>
              <a:spcAft>
                <a:spcPts val="500"/>
              </a:spcAft>
              <a:defRPr sz="1200" b="1"/>
            </a:pPr>
            <a:r>
              <a:t>工程增强（Heap）：边界候选按 S(i,C) 维护大顶堆，取最优 O(log n)，替代反复全量排序。</a:t>
            </a:r>
          </a:p>
          <a:p>
            <a:pPr>
              <a:spcAft>
                <a:spcPts val="500"/>
              </a:spcAft>
              <a:defRPr sz="1300" b="1"/>
            </a:pPr>
            <a:r>
              <a:t>论文综合复杂度：T_NCSS = O(kn)（k 为核心节点数，k≪n）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